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/>
        </p:nvSpPr>
        <p:spPr>
          <a:xfrm>
            <a:off x="1569719" y="984581"/>
            <a:ext cx="9052562" cy="67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b="1" sz="4100">
                <a:solidFill>
                  <a:srgbClr val="ED42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Distributed Dataset Statistics using MPI</a:t>
            </a:r>
          </a:p>
        </p:txBody>
      </p:sp>
      <p:pic>
        <p:nvPicPr>
          <p:cNvPr id="9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Line 2"/>
          <p:cNvSpPr/>
          <p:nvPr/>
        </p:nvSpPr>
        <p:spPr>
          <a:xfrm>
            <a:off x="-1238652" y="750886"/>
            <a:ext cx="14307217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Parallel Computing Lab — Evaluation 1"/>
          <p:cNvSpPr txBox="1"/>
          <p:nvPr/>
        </p:nvSpPr>
        <p:spPr>
          <a:xfrm>
            <a:off x="2959467" y="1871797"/>
            <a:ext cx="6273067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3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Parallel Computing Lab — Evaluation 1</a:t>
            </a:r>
          </a:p>
        </p:txBody>
      </p:sp>
      <p:sp>
        <p:nvSpPr>
          <p:cNvPr id="98" name="Parallel Model: MPI"/>
          <p:cNvSpPr txBox="1"/>
          <p:nvPr/>
        </p:nvSpPr>
        <p:spPr>
          <a:xfrm>
            <a:off x="4659282" y="2823895"/>
            <a:ext cx="2873436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Parallel Model: </a:t>
            </a:r>
            <a:r>
              <a:rPr b="1"/>
              <a:t>MPI</a:t>
            </a:r>
          </a:p>
        </p:txBody>
      </p:sp>
      <p:graphicFrame>
        <p:nvGraphicFramePr>
          <p:cNvPr id="99" name="Table 1"/>
          <p:cNvGraphicFramePr/>
          <p:nvPr/>
        </p:nvGraphicFramePr>
        <p:xfrm>
          <a:off x="386771" y="3528648"/>
          <a:ext cx="11069071" cy="16507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85456"/>
                <a:gridCol w="3685456"/>
                <a:gridCol w="3685456"/>
              </a:tblGrid>
              <a:tr h="43149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ROLL NO.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USN</a:t>
                      </a:r>
                    </a:p>
                  </a:txBody>
                  <a:tcPr marL="0" marR="0" marT="0" marB="0" anchor="t" anchorCtr="0" horzOverflow="overflow"/>
                </a:tc>
              </a:tr>
              <a:tr h="63492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167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MYTHRI GADED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01FE24BCI031</a:t>
                      </a:r>
                    </a:p>
                  </a:txBody>
                  <a:tcPr marL="0" marR="0" marT="0" marB="0" anchor="t" anchorCtr="0" horzOverflow="overflow"/>
                </a:tc>
              </a:tr>
              <a:tr h="58731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165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AKSHATA PATIL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01FE24BCI088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  <p:sp>
        <p:nvSpPr>
          <p:cNvPr id="100" name="5TH SEMESTER"/>
          <p:cNvSpPr txBox="1"/>
          <p:nvPr/>
        </p:nvSpPr>
        <p:spPr>
          <a:xfrm>
            <a:off x="5102071" y="5397016"/>
            <a:ext cx="1987858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5TH SEMESTER</a:t>
            </a:r>
          </a:p>
        </p:txBody>
      </p:sp>
      <p:sp>
        <p:nvSpPr>
          <p:cNvPr id="101" name="PGC - PARALLEL AND GPU COMPUTING"/>
          <p:cNvSpPr txBox="1"/>
          <p:nvPr/>
        </p:nvSpPr>
        <p:spPr>
          <a:xfrm>
            <a:off x="3789425" y="5844171"/>
            <a:ext cx="461315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i="1" sz="2200">
                <a:solidFill>
                  <a:srgbClr val="ED4221"/>
                </a:solidFill>
              </a:defRPr>
            </a:lvl1pPr>
          </a:lstStyle>
          <a:p>
            <a:pPr/>
            <a:r>
              <a:t>PGC - PARALLEL AND GPU COMPUTING</a:t>
            </a:r>
          </a:p>
        </p:txBody>
      </p:sp>
      <p:sp>
        <p:nvSpPr>
          <p:cNvPr id="102" name="GUIDE : SHRUSHTI GANI"/>
          <p:cNvSpPr txBox="1"/>
          <p:nvPr/>
        </p:nvSpPr>
        <p:spPr>
          <a:xfrm>
            <a:off x="4803199" y="6284231"/>
            <a:ext cx="2585602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GUIDE : SHRUSHTI GANI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05" name="Title 1"/>
          <p:cNvSpPr txBox="1"/>
          <p:nvPr/>
        </p:nvSpPr>
        <p:spPr>
          <a:xfrm>
            <a:off x="131170" y="123460"/>
            <a:ext cx="104241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1: PROBLEM + ALGORITHM + DESIGN</a:t>
            </a:r>
          </a:p>
        </p:txBody>
      </p:sp>
      <p:sp>
        <p:nvSpPr>
          <p:cNvPr id="106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07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8" name="Line 2"/>
          <p:cNvSpPr/>
          <p:nvPr/>
        </p:nvSpPr>
        <p:spPr>
          <a:xfrm>
            <a:off x="-794545" y="771524"/>
            <a:ext cx="13781090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9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Problem Definition:"/>
          <p:cNvSpPr txBox="1"/>
          <p:nvPr/>
        </p:nvSpPr>
        <p:spPr>
          <a:xfrm>
            <a:off x="234175" y="972134"/>
            <a:ext cx="3352358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b="1" i="1" sz="31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Problem Definition:</a:t>
            </a:r>
          </a:p>
        </p:txBody>
      </p:sp>
      <p:sp>
        <p:nvSpPr>
          <p:cNvPr id="111" name="Calculate sum, average, maximum and minimum of a dataset…"/>
          <p:cNvSpPr txBox="1"/>
          <p:nvPr/>
        </p:nvSpPr>
        <p:spPr>
          <a:xfrm>
            <a:off x="997362" y="1539610"/>
            <a:ext cx="10723550" cy="135635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AD5B24"/>
            </a:solidFill>
            <a:miter/>
          </a:ln>
          <a:effectLst>
            <a:outerShdw sx="100000" sy="100000" kx="0" ky="0" algn="b" rotWithShape="0" blurRad="177800" dist="142479" dir="5400000">
              <a:srgbClr val="000000">
                <a:alpha val="63000"/>
              </a:srgbClr>
            </a:outerShdw>
            <a:reflection blurRad="0" stA="29456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Calculate sum, average, maximum and minimum of a dataset </a:t>
            </a:r>
          </a:p>
          <a:p>
            <a:pPr>
              <a:defRPr b="1" sz="2900">
                <a:solidFill>
                  <a:srgbClr val="FFFFFF"/>
                </a:solidFill>
              </a:defRPr>
            </a:pPr>
            <a:r>
              <a:t>using parallel processing with MPI.</a:t>
            </a:r>
          </a:p>
        </p:txBody>
      </p:sp>
      <p:sp>
        <p:nvSpPr>
          <p:cNvPr id="112" name="Sequential Approach…"/>
          <p:cNvSpPr txBox="1"/>
          <p:nvPr/>
        </p:nvSpPr>
        <p:spPr>
          <a:xfrm>
            <a:off x="241540" y="3101319"/>
            <a:ext cx="2720490" cy="311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Sequential Approach</a:t>
            </a:r>
          </a:p>
          <a:p>
            <a:pPr marL="457200" indent="-317500" defTabSz="457200">
              <a:buSzPct val="100000"/>
              <a:buFont typeface="Times Roman"/>
              <a:buAutoNum type="arabicPeriod" startAt="1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 dataset</a:t>
            </a:r>
          </a:p>
          <a:p>
            <a:pPr marL="457200" indent="-317500" defTabSz="457200">
              <a:buSzPct val="100000"/>
              <a:buFont typeface="Times Roman"/>
              <a:buAutoNum type="arabicPeriod" startAt="1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Calculate sum</a:t>
            </a:r>
          </a:p>
          <a:p>
            <a:pPr marL="457200" indent="-317500" defTabSz="457200">
              <a:buSzPct val="100000"/>
              <a:buFont typeface="Times Roman"/>
              <a:buAutoNum type="arabicPeriod" startAt="1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Calculate average</a:t>
            </a:r>
          </a:p>
          <a:p>
            <a:pPr marL="457200" indent="-317500" defTabSz="457200">
              <a:buSzPct val="100000"/>
              <a:buFont typeface="Times Roman"/>
              <a:buAutoNum type="arabicPeriod" startAt="1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Find maximum</a:t>
            </a:r>
          </a:p>
          <a:p>
            <a:pPr marL="457200" indent="-317500" defTabSz="457200">
              <a:buSzPct val="100000"/>
              <a:buFont typeface="Times Roman"/>
              <a:buAutoNum type="arabicPeriod" startAt="1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Find minimum</a:t>
            </a:r>
          </a:p>
          <a:p>
            <a:pPr marL="457200" indent="-317500" defTabSz="457200">
              <a:buSzPct val="100000"/>
              <a:buFont typeface="Times Roman"/>
              <a:buAutoNum type="arabicPeriod" startAt="1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Display results</a:t>
            </a:r>
          </a:p>
        </p:txBody>
      </p:sp>
      <p:sp>
        <p:nvSpPr>
          <p:cNvPr id="113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16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17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8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9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MPI Parallel Design"/>
          <p:cNvSpPr txBox="1"/>
          <p:nvPr/>
        </p:nvSpPr>
        <p:spPr>
          <a:xfrm>
            <a:off x="124590" y="880045"/>
            <a:ext cx="260325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b="1" i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MPI Parallel Design</a:t>
            </a:r>
          </a:p>
        </p:txBody>
      </p:sp>
      <p:sp>
        <p:nvSpPr>
          <p:cNvPr id="122" name="Dataset…"/>
          <p:cNvSpPr txBox="1"/>
          <p:nvPr/>
        </p:nvSpPr>
        <p:spPr>
          <a:xfrm>
            <a:off x="707665" y="1416555"/>
            <a:ext cx="10776670" cy="326678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AD5B24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  <a:reflection blurRad="0" stA="13806" stPos="0" endA="0" endPos="40000" dist="0" dir="5400000" fadeDir="5400000" sx="100000" sy="-100000" kx="0" ky="0" algn="bl" rotWithShape="0"/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Dataset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   ↓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MPI_Scatter()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   ↓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Process 0 | Process 1 | Process 2 | Process 3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   ↓           ↓           ↓           ↓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Local Statistics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   ↓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MPI_Reduce()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   ↓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Global Statistics</a:t>
            </a:r>
          </a:p>
        </p:txBody>
      </p:sp>
      <p:sp>
        <p:nvSpPr>
          <p:cNvPr id="123" name="Key MPI functions…"/>
          <p:cNvSpPr txBox="1"/>
          <p:nvPr/>
        </p:nvSpPr>
        <p:spPr>
          <a:xfrm>
            <a:off x="329252" y="4772812"/>
            <a:ext cx="10463192" cy="1309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MPI functions</a:t>
            </a:r>
          </a:p>
          <a:p>
            <a:pPr defTabSz="457200">
              <a:spcBef>
                <a:spcPts val="1200"/>
              </a:spcBef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MPI_Init()</a:t>
            </a:r>
            <a:r>
              <a:t> →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MPI_Scatter()</a:t>
            </a:r>
            <a:r>
              <a:t> → Local computation →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MPI_Reduce()</a:t>
            </a:r>
            <a:r>
              <a:t> →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MPI_Finalize()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26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27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8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9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#include &lt;mpi.h&gt;…"/>
          <p:cNvSpPr txBox="1"/>
          <p:nvPr/>
        </p:nvSpPr>
        <p:spPr>
          <a:xfrm>
            <a:off x="3333400" y="-10901909"/>
            <a:ext cx="10390145" cy="713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#include &lt;mpi.h&gt;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#include &lt;iostream&gt;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#include &lt;vector&gt;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#include &lt;algorithm&gt;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#include &lt;numeric&gt;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#include &lt;cstdlib&gt;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using namespace std;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int main(int argc, char* argv[]) {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Start MPI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MPI_Init(&amp;argc, &amp;argv);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Get process ID and total number of processes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int rank, size;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MPI_Comm_rank(MPI_COMM_WORLD, &amp;rank);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MPI_Comm_size(MPI_COMM_WORLD, &amp;size);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Start execution timer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double start_time = MPI_Wtime();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Dataset size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int n = 1000;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Allow dataset size to be given from command line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if (argc &gt; 1) {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    n = atoi(argv[1]);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}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Create dataset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vector&lt;int&gt; data(n);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// Fill dataset with values from 1 to 100 repeatedly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for (int i = 0; i &lt; n; i++) {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    data[i] = (i % 100) + 1;</a:t>
            </a:r>
          </a:p>
          <a:p>
            <a:pPr defTabSz="355600"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 }</a:t>
            </a:r>
          </a:p>
        </p:txBody>
      </p:sp>
      <p:sp>
        <p:nvSpPr>
          <p:cNvPr id="132" name="ADD MPI CPP CODE"/>
          <p:cNvSpPr txBox="1"/>
          <p:nvPr/>
        </p:nvSpPr>
        <p:spPr>
          <a:xfrm>
            <a:off x="5855122" y="3262456"/>
            <a:ext cx="192546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ADD MPI CPP CODE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35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36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37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8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CHECKPOINT 2: IMPLEMENTATION"/>
          <p:cNvSpPr txBox="1"/>
          <p:nvPr/>
        </p:nvSpPr>
        <p:spPr>
          <a:xfrm>
            <a:off x="135299" y="123460"/>
            <a:ext cx="588244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2: IMPLEMENTATION</a:t>
            </a:r>
          </a:p>
        </p:txBody>
      </p:sp>
      <p:sp>
        <p:nvSpPr>
          <p:cNvPr id="141" name="Working Parallel Implementation…"/>
          <p:cNvSpPr txBox="1"/>
          <p:nvPr/>
        </p:nvSpPr>
        <p:spPr>
          <a:xfrm>
            <a:off x="323299" y="880045"/>
            <a:ext cx="3773002" cy="225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Working Parallel Implementation</a:t>
            </a:r>
          </a:p>
          <a:p>
            <a:pPr defTabSz="457200">
              <a:spcBef>
                <a:spcPts val="1200"/>
              </a:spcBef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Language:</a:t>
            </a:r>
            <a:r>
              <a:rPr b="0"/>
              <a:t> C++</a:t>
            </a:r>
            <a:endParaRPr b="0"/>
          </a:p>
          <a:p>
            <a:pPr defTabSz="457200">
              <a:spcBef>
                <a:spcPts val="1200"/>
              </a:spcBef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Parallel Model:</a:t>
            </a:r>
            <a:r>
              <a:rPr b="0"/>
              <a:t> MPI</a:t>
            </a:r>
            <a:endParaRPr b="0"/>
          </a:p>
          <a:p>
            <a:pPr defTabSz="457200">
              <a:spcBef>
                <a:spcPts val="1200"/>
              </a:spcBef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MPI:</a:t>
            </a:r>
            <a:r>
              <a:t> Open MPI</a:t>
            </a:r>
          </a:p>
        </p:txBody>
      </p:sp>
      <p:sp>
        <p:nvSpPr>
          <p:cNvPr id="142" name="Important implementation…"/>
          <p:cNvSpPr txBox="1"/>
          <p:nvPr/>
        </p:nvSpPr>
        <p:spPr>
          <a:xfrm>
            <a:off x="6352158" y="922542"/>
            <a:ext cx="4961259" cy="263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Important implementation</a:t>
            </a: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MPI_Comm_rank(MPI_COMM_WORLD, &amp;rank);</a:t>
            </a: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MPI_Comm_size(MPI_COMM_WORLD, &amp;size);</a:t>
            </a: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MPI_Scatter(...);</a:t>
            </a: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MPI_Reduce(..., MPI_SUM, ...);</a:t>
            </a: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MPI_Reduce(..., MPI_MAX, ...);</a:t>
            </a:r>
          </a:p>
          <a:p>
            <a:pPr defTabSz="457200"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MPI_Reduce(..., MPI_MIN, ...);</a:t>
            </a:r>
          </a:p>
        </p:txBody>
      </p:sp>
      <p:sp>
        <p:nvSpPr>
          <p:cNvPr id="143" name="Compilation:…"/>
          <p:cNvSpPr txBox="1"/>
          <p:nvPr/>
        </p:nvSpPr>
        <p:spPr>
          <a:xfrm>
            <a:off x="234667" y="3151705"/>
            <a:ext cx="5683707" cy="3242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Compilation:</a:t>
            </a:r>
          </a:p>
          <a:p>
            <a:pPr defTabSz="457200"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mpic++ mpi_statistics.cpp -o mpi_statistics</a:t>
            </a:r>
          </a:p>
          <a:p>
            <a:pPr defTabSz="457200"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Execution:</a:t>
            </a:r>
          </a:p>
          <a:p>
            <a:pPr defTabSz="457200"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mpirun -np 4 ./mpi_statistics 100000</a:t>
            </a:r>
          </a:p>
          <a:p>
            <a:pPr defTabSz="457200"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46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47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48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9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CHECKPOINT 2: WORKING OUTPUT"/>
          <p:cNvSpPr txBox="1"/>
          <p:nvPr/>
        </p:nvSpPr>
        <p:spPr>
          <a:xfrm>
            <a:off x="143325" y="123460"/>
            <a:ext cx="601579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2: WORKING OUTPUT</a:t>
            </a:r>
          </a:p>
        </p:txBody>
      </p:sp>
      <p:sp>
        <p:nvSpPr>
          <p:cNvPr id="152" name="MPI Execution — 4 Processes…"/>
          <p:cNvSpPr txBox="1"/>
          <p:nvPr/>
        </p:nvSpPr>
        <p:spPr>
          <a:xfrm>
            <a:off x="212302" y="880045"/>
            <a:ext cx="5231352" cy="2301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 Execution — 4 Processes</a:t>
            </a:r>
          </a:p>
          <a:p>
            <a:pPr defTabSz="457200">
              <a:spcBef>
                <a:spcPts val="1200"/>
              </a:spcBef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Dataset:</a:t>
            </a:r>
          </a:p>
          <a:p>
            <a:pPr defTabSz="457200">
              <a:spcBef>
                <a:spcPts val="12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100,000 elements</a:t>
            </a:r>
            <a:endParaRPr b="0"/>
          </a:p>
          <a:p>
            <a:pPr defTabSz="457200">
              <a:spcBef>
                <a:spcPts val="1200"/>
              </a:spcBef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153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89680" y="881671"/>
            <a:ext cx="8110218" cy="2298384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Result Verification"/>
          <p:cNvSpPr txBox="1"/>
          <p:nvPr/>
        </p:nvSpPr>
        <p:spPr>
          <a:xfrm>
            <a:off x="4364015" y="3264801"/>
            <a:ext cx="2215733" cy="942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 Verification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aphicFrame>
        <p:nvGraphicFramePr>
          <p:cNvPr id="155" name="Table 1"/>
          <p:cNvGraphicFramePr/>
          <p:nvPr/>
        </p:nvGraphicFramePr>
        <p:xfrm>
          <a:off x="6757625" y="3264801"/>
          <a:ext cx="4101058" cy="28956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044178"/>
                <a:gridCol w="2044178"/>
              </a:tblGrid>
              <a:tr h="57658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Statistic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Result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7658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Sum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50,50,000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7658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Average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50.5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7658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Maximum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100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7658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Minimum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58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59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60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CHECKPOINT 3: EXPERIMENTS"/>
          <p:cNvSpPr txBox="1"/>
          <p:nvPr/>
        </p:nvSpPr>
        <p:spPr>
          <a:xfrm>
            <a:off x="84851" y="123460"/>
            <a:ext cx="5161717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3: EXPERIMENTS</a:t>
            </a:r>
          </a:p>
        </p:txBody>
      </p:sp>
      <p:sp>
        <p:nvSpPr>
          <p:cNvPr id="164" name="Experiments Performed…"/>
          <p:cNvSpPr txBox="1"/>
          <p:nvPr/>
        </p:nvSpPr>
        <p:spPr>
          <a:xfrm>
            <a:off x="654029" y="981625"/>
            <a:ext cx="4023361" cy="5248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Experiments Performed</a:t>
            </a:r>
          </a:p>
          <a:p>
            <a:pPr defTabSz="457200">
              <a:spcBef>
                <a:spcPts val="1200"/>
              </a:spcBef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tested:</a:t>
            </a:r>
          </a:p>
          <a:p>
            <a:pPr defTabSz="457200">
              <a:spcBef>
                <a:spcPts val="1200"/>
              </a:spcBef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Different dataset sizes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1,000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10,000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100,000</a:t>
            </a:r>
          </a:p>
          <a:p>
            <a:pPr defTabSz="457200">
              <a:spcBef>
                <a:spcPts val="14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Different MPI process counts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 process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 processes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4 processes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8 processes</a:t>
            </a:r>
          </a:p>
          <a:p>
            <a:pPr marL="457200" indent="-457200" defTabSz="457200">
              <a:tabLst>
                <a:tab pos="139700" algn="l"/>
                <a:tab pos="457200" algn="l"/>
              </a:tabLst>
              <a:defRPr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65" name="mpirun -np 1 ./mpi_statistics 100000…"/>
          <p:cNvSpPr txBox="1"/>
          <p:nvPr/>
        </p:nvSpPr>
        <p:spPr>
          <a:xfrm>
            <a:off x="5972072" y="2513553"/>
            <a:ext cx="5944270" cy="1800856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900">
                <a:solidFill>
                  <a:srgbClr val="FFFFFF"/>
                </a:solidFill>
              </a:defRPr>
            </a:pPr>
            <a:r>
              <a:t>mpirun -np 1 ./mpi_statistics 100000</a:t>
            </a:r>
          </a:p>
          <a:p>
            <a:pPr>
              <a:defRPr sz="2900">
                <a:solidFill>
                  <a:srgbClr val="FFFFFF"/>
                </a:solidFill>
              </a:defRPr>
            </a:pPr>
            <a:r>
              <a:t>mpirun -np 2 ./mpi_statistics 100000</a:t>
            </a:r>
          </a:p>
          <a:p>
            <a:pPr>
              <a:defRPr sz="2900">
                <a:solidFill>
                  <a:srgbClr val="FFFFFF"/>
                </a:solidFill>
              </a:defRPr>
            </a:pPr>
            <a:r>
              <a:t>mpirun -np 4 ./mpi_statistics 100000</a:t>
            </a:r>
          </a:p>
          <a:p>
            <a:pPr>
              <a:defRPr sz="2900">
                <a:solidFill>
                  <a:srgbClr val="FFFFFF"/>
                </a:solidFill>
              </a:defRPr>
            </a:pPr>
            <a:r>
              <a:t>mpirun -np 8 ./mpi_statistics 100000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68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69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70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3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27568" y="1065917"/>
            <a:ext cx="6048111" cy="17139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pasted-movie.heic" descr="pasted-movie.heic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48185" y="3727419"/>
            <a:ext cx="6144479" cy="173983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pasted-movie.heic" descr="pasted-movie.heic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9700" y="1040077"/>
            <a:ext cx="5951709" cy="1788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pasted-movie.heic" descr="pasted-movie.heic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107116" y="3702923"/>
            <a:ext cx="6289014" cy="17888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79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80" name="Slide Number Placeholder 5"/>
          <p:cNvSpPr txBox="1"/>
          <p:nvPr>
            <p:ph type="sldNum" sz="quarter" idx="4294967295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81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2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CHECKPOINT 3 + RESULTS TABLE"/>
          <p:cNvSpPr txBox="1"/>
          <p:nvPr/>
        </p:nvSpPr>
        <p:spPr>
          <a:xfrm>
            <a:off x="287654" y="123460"/>
            <a:ext cx="547683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3 + RESULTS TABLE</a:t>
            </a:r>
          </a:p>
        </p:txBody>
      </p:sp>
      <p:sp>
        <p:nvSpPr>
          <p:cNvPr id="185" name="Performance Data Collected…"/>
          <p:cNvSpPr txBox="1"/>
          <p:nvPr/>
        </p:nvSpPr>
        <p:spPr>
          <a:xfrm>
            <a:off x="95353" y="748039"/>
            <a:ext cx="3640291" cy="1488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Performance Data Collected</a:t>
            </a:r>
          </a:p>
          <a:p>
            <a:pPr defTabSz="457200">
              <a:spcBef>
                <a:spcPts val="12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For </a:t>
            </a:r>
            <a:r>
              <a:t>100,000 elements</a:t>
            </a:r>
            <a:r>
              <a:rPr b="0"/>
              <a:t>:</a:t>
            </a:r>
            <a:endParaRPr b="0"/>
          </a:p>
        </p:txBody>
      </p:sp>
      <p:graphicFrame>
        <p:nvGraphicFramePr>
          <p:cNvPr id="186" name="Table 1"/>
          <p:cNvGraphicFramePr/>
          <p:nvPr/>
        </p:nvGraphicFramePr>
        <p:xfrm>
          <a:off x="1740844" y="1940528"/>
          <a:ext cx="8223585" cy="30935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736961"/>
                <a:gridCol w="2736961"/>
                <a:gridCol w="2736961"/>
              </a:tblGrid>
              <a:tr h="51347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Configuration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Processes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Execution Time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47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Sequential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0.00346217 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47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MPI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0.004973 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47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MPI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0.004275 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47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MPI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0.015596 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47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MPI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28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0.015119 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187" name="Timing Method :"/>
          <p:cNvSpPr txBox="1"/>
          <p:nvPr/>
        </p:nvSpPr>
        <p:spPr>
          <a:xfrm>
            <a:off x="66115" y="4985115"/>
            <a:ext cx="5205346" cy="980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spcBef>
                <a:spcPts val="14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Timing Method :</a:t>
            </a:r>
          </a:p>
        </p:txBody>
      </p:sp>
      <p:sp>
        <p:nvSpPr>
          <p:cNvPr id="188" name="MPI:…"/>
          <p:cNvSpPr txBox="1"/>
          <p:nvPr/>
        </p:nvSpPr>
        <p:spPr>
          <a:xfrm>
            <a:off x="2316608" y="5319136"/>
            <a:ext cx="5804539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MPI:</a:t>
            </a:r>
          </a:p>
          <a:p>
            <a:pPr defTabSz="457200">
              <a:spcBef>
                <a:spcPts val="1200"/>
              </a:spcBef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MPI_Wtime()</a:t>
            </a:r>
          </a:p>
          <a:p>
            <a:pPr defTabSz="457200">
              <a:spcBef>
                <a:spcPts val="1200"/>
              </a:spcBef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89" name="Sequential:…"/>
          <p:cNvSpPr txBox="1"/>
          <p:nvPr/>
        </p:nvSpPr>
        <p:spPr>
          <a:xfrm>
            <a:off x="4836239" y="5188659"/>
            <a:ext cx="2519522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Sequential:</a:t>
            </a:r>
          </a:p>
          <a:p>
            <a:pPr defTabSz="457200"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high_resolution_clock::now()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192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193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94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CHECKPOINT 4: GRAPHS"/>
          <p:cNvSpPr txBox="1"/>
          <p:nvPr/>
        </p:nvSpPr>
        <p:spPr>
          <a:xfrm>
            <a:off x="122654" y="123460"/>
            <a:ext cx="417429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4: GRAPHS</a:t>
            </a:r>
          </a:p>
        </p:txBody>
      </p:sp>
      <p:pic>
        <p:nvPicPr>
          <p:cNvPr id="198" name="efficiency_vs_processes.png" descr="efficiency_vs_processe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3443" y="922542"/>
            <a:ext cx="7266255" cy="51901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201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202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03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6" name="execution_time_vs_processes.png" descr="execution_time_vs_processe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30997" y="1167695"/>
            <a:ext cx="6826813" cy="48762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209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210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11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2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4" name="speedup_vs_processes.png" descr="speedup_vs_processe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23568" y="880045"/>
            <a:ext cx="6944864" cy="4960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217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218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19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0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CHECKPOINT 4: ANALYSIS"/>
          <p:cNvSpPr txBox="1"/>
          <p:nvPr/>
        </p:nvSpPr>
        <p:spPr>
          <a:xfrm>
            <a:off x="25022" y="123460"/>
            <a:ext cx="436955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4: ANALYSIS</a:t>
            </a:r>
          </a:p>
        </p:txBody>
      </p:sp>
      <p:graphicFrame>
        <p:nvGraphicFramePr>
          <p:cNvPr id="223" name="Table 1"/>
          <p:cNvGraphicFramePr/>
          <p:nvPr/>
        </p:nvGraphicFramePr>
        <p:xfrm>
          <a:off x="437297" y="1103396"/>
          <a:ext cx="10801244" cy="25781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3596181"/>
                <a:gridCol w="3596181"/>
                <a:gridCol w="3596181"/>
              </a:tblGrid>
              <a:tr h="513080"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Processes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Speedup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b="1"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Efficiency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080"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0.6962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69.62%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080"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0.8099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40.49%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080"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0.2220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5.55%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13080"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0.2290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31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2.86%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24" name="Observations…"/>
          <p:cNvSpPr txBox="1"/>
          <p:nvPr/>
        </p:nvSpPr>
        <p:spPr>
          <a:xfrm>
            <a:off x="270777" y="3741734"/>
            <a:ext cx="8260555" cy="2606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Observations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Sequential execution was faster for this experiment.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 did </a:t>
            </a:r>
            <a:r>
              <a:rPr b="1"/>
              <a:t>not</a:t>
            </a:r>
            <a:r>
              <a:t> achieve speedup over sequential execution.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Increasing the number of processes did not continuously reduce execution time.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Efficiency decreased as process count increased.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 communication and process-management overhead affected performance.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experiment was executed locally on one machine.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227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228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9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0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CHECKPOINT 5: DEMONSTRATION"/>
          <p:cNvSpPr txBox="1"/>
          <p:nvPr/>
        </p:nvSpPr>
        <p:spPr>
          <a:xfrm>
            <a:off x="256546" y="123460"/>
            <a:ext cx="5812394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CHECKPOINT 5: DEMONSTRATION</a:t>
            </a:r>
          </a:p>
        </p:txBody>
      </p:sp>
      <p:sp>
        <p:nvSpPr>
          <p:cNvPr id="233" name="Final Demonstration…"/>
          <p:cNvSpPr txBox="1"/>
          <p:nvPr/>
        </p:nvSpPr>
        <p:spPr>
          <a:xfrm>
            <a:off x="435650" y="922542"/>
            <a:ext cx="4986388" cy="377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Final Demonstration</a:t>
            </a:r>
          </a:p>
          <a:p>
            <a:pPr defTabSz="457200"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mpirun -np 4 ./mpi_statistics 100000</a:t>
            </a:r>
          </a:p>
          <a:p>
            <a:pPr defTabSz="457200"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1"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Expected result</a:t>
            </a:r>
          </a:p>
          <a:p>
            <a:pPr defTabSz="457200">
              <a:defRPr b="1"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Sum     : 5050000</a:t>
            </a:r>
          </a:p>
          <a:p>
            <a:pPr defTabSz="457200">
              <a:defRPr b="1"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: 50.5</a:t>
            </a:r>
          </a:p>
          <a:p>
            <a:pPr defTabSz="457200">
              <a:defRPr b="1"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Maximum : 100</a:t>
            </a:r>
          </a:p>
          <a:p>
            <a:pPr defTabSz="457200">
              <a:defRPr b="1"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Minimum : 1</a:t>
            </a:r>
          </a:p>
          <a:p>
            <a:pPr defTabSz="457200">
              <a:defRPr b="1" i="1" sz="24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34" name="Demonstration proves:…"/>
          <p:cNvSpPr txBox="1"/>
          <p:nvPr/>
        </p:nvSpPr>
        <p:spPr>
          <a:xfrm>
            <a:off x="6615295" y="880045"/>
            <a:ext cx="4442679" cy="4003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Demonstration proves:</a:t>
            </a:r>
          </a:p>
          <a:p>
            <a:pPr defTabSz="457200">
              <a:spcBef>
                <a:spcPts val="1200"/>
              </a:spcBef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MPI program compiles and runs</a:t>
            </a:r>
            <a:br/>
            <a:r>
              <a:t>✅ Multiple processes are created</a:t>
            </a:r>
            <a:br/>
            <a:r>
              <a:t>✅ Dataset is distributed</a:t>
            </a:r>
            <a:br/>
            <a:r>
              <a:t>✅ Local statistics are calculated</a:t>
            </a:r>
            <a:br/>
            <a:r>
              <a:t>✅ Results are reduced</a:t>
            </a:r>
            <a:br/>
            <a:r>
              <a:t>✅ Final statistics are correct</a:t>
            </a:r>
            <a:br/>
            <a:r>
              <a:t>✅ Execution time is measured</a:t>
            </a:r>
          </a:p>
        </p:txBody>
      </p:sp>
      <p:sp>
        <p:nvSpPr>
          <p:cNvPr id="235" name="CONCLUSION:…"/>
          <p:cNvSpPr txBox="1"/>
          <p:nvPr/>
        </p:nvSpPr>
        <p:spPr>
          <a:xfrm>
            <a:off x="76163" y="4706112"/>
            <a:ext cx="12039673" cy="96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b="1" i="1" sz="1200">
                <a:solidFill>
                  <a:srgbClr val="ED42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800"/>
              <a:t>CONCLUSION:</a:t>
            </a:r>
          </a:p>
          <a:p>
            <a:pPr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Successfully implemented and evaluated distributed dataset statistics using MPI, tested multiple process configurations, measured execution time, speedup and efficiency, and analyzed the performance.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Footer Placeholder 4"/>
          <p:cNvSpPr txBox="1"/>
          <p:nvPr/>
        </p:nvSpPr>
        <p:spPr>
          <a:xfrm>
            <a:off x="4084320" y="6414760"/>
            <a:ext cx="40233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Department of Computer Science and Engineering</a:t>
            </a:r>
          </a:p>
        </p:txBody>
      </p:sp>
      <p:sp>
        <p:nvSpPr>
          <p:cNvPr id="238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08-10-2026</a:t>
            </a:r>
          </a:p>
        </p:txBody>
      </p:sp>
      <p:sp>
        <p:nvSpPr>
          <p:cNvPr id="239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40" name="Line 2"/>
          <p:cNvSpPr/>
          <p:nvPr/>
        </p:nvSpPr>
        <p:spPr>
          <a:xfrm>
            <a:off x="-794545" y="771525"/>
            <a:ext cx="13781090" cy="0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Line 2"/>
          <p:cNvSpPr/>
          <p:nvPr/>
        </p:nvSpPr>
        <p:spPr>
          <a:xfrm>
            <a:off x="-199746" y="6190356"/>
            <a:ext cx="13781089" cy="1"/>
          </a:xfrm>
          <a:prstGeom prst="line">
            <a:avLst/>
          </a:prstGeom>
          <a:ln w="50800">
            <a:solidFill>
              <a:srgbClr val="E4948A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HANK YOU"/>
          <p:cNvSpPr txBox="1"/>
          <p:nvPr/>
        </p:nvSpPr>
        <p:spPr>
          <a:xfrm>
            <a:off x="3438777" y="3262456"/>
            <a:ext cx="5451572" cy="112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i="1" sz="8100">
                <a:solidFill>
                  <a:srgbClr val="ED4221"/>
                </a:solidFill>
              </a:defRPr>
            </a:lvl1pPr>
          </a:lstStyle>
          <a:p>
            <a:pPr/>
            <a:r>
              <a:t>THANK YOU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